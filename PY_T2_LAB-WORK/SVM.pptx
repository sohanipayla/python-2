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63" r:id="rId2"/>
    <p:sldId id="264" r:id="rId3"/>
    <p:sldId id="265" r:id="rId4"/>
    <p:sldId id="266" r:id="rId5"/>
    <p:sldId id="267" r:id="rId6"/>
  </p:sldIdLst>
  <p:sldSz cx="9144000" cy="5143500" type="screen16x9"/>
  <p:notesSz cx="6858000" cy="9144000"/>
  <p:embeddedFontLst>
    <p:embeddedFont>
      <p:font typeface="Merriweather" panose="020B0604020202020204" charset="0"/>
      <p:regular r:id="rId8"/>
      <p:bold r:id="rId9"/>
      <p:italic r:id="rId10"/>
      <p:boldItalic r:id="rId11"/>
    </p:embeddedFont>
    <p:embeddedFont>
      <p:font typeface="Roboto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92e3d0365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d92e3d0365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92e3d036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d92e3d036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92e3d036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d92e3d036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92e3d0365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d92e3d0365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92e3d036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d92e3d036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0" name="Google Shape;20;p4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Google Shape;26;p5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is Support Vector Machine ?</a:t>
            </a:r>
            <a:endParaRPr/>
          </a:p>
        </p:txBody>
      </p:sp>
      <p:sp>
        <p:nvSpPr>
          <p:cNvPr id="107" name="Google Shape;107;p20"/>
          <p:cNvSpPr txBox="1"/>
          <p:nvPr/>
        </p:nvSpPr>
        <p:spPr>
          <a:xfrm>
            <a:off x="311725" y="1389025"/>
            <a:ext cx="8304300" cy="3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Support Vector Machine (SVM) is a supervised machine learning algorithm used for classification and regression tasks. </a:t>
            </a:r>
            <a:endParaRPr sz="1900" dirty="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tries to find the best boundary known as hyperplane that separates different classes in the data. </a:t>
            </a:r>
            <a:endParaRPr sz="1900" dirty="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is useful when you want to do binary classification like spam vs. not spam or cat vs. dog.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dirty="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latin typeface="Times New Roman"/>
                <a:ea typeface="Times New Roman"/>
                <a:cs typeface="Times New Roman"/>
                <a:sym typeface="Times New Roman"/>
              </a:rPr>
              <a:t>Key Concepts of Support Vector Machine</a:t>
            </a:r>
            <a:endParaRPr sz="3200"/>
          </a:p>
        </p:txBody>
      </p:sp>
      <p:sp>
        <p:nvSpPr>
          <p:cNvPr id="113" name="Google Shape;113;p21"/>
          <p:cNvSpPr txBox="1"/>
          <p:nvPr/>
        </p:nvSpPr>
        <p:spPr>
          <a:xfrm>
            <a:off x="311725" y="1389025"/>
            <a:ext cx="8304300" cy="3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85800" lvl="0" indent="-32385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unito"/>
              <a:buChar char="●"/>
            </a:pPr>
            <a:r>
              <a:rPr lang="en" sz="1500" b="1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Hyperplane</a:t>
            </a:r>
            <a:r>
              <a:rPr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A decision boundary separating different classes in feature space and is represented by the equation wx + b = 0 in linear classification.</a:t>
            </a:r>
            <a:endParaRPr sz="15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32385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unito"/>
              <a:buChar char="●"/>
            </a:pPr>
            <a:r>
              <a:rPr lang="en" sz="1500" b="1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Support Vectors</a:t>
            </a:r>
            <a:r>
              <a:rPr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The closest data points to the hyperplane, crucial for determining the hyperplane and margin in SVM.</a:t>
            </a:r>
            <a:endParaRPr sz="15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32385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unito"/>
              <a:buChar char="●"/>
            </a:pPr>
            <a:r>
              <a:rPr lang="en" sz="1500" b="1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Margin</a:t>
            </a:r>
            <a:r>
              <a:rPr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The distance between the hyperplane and the support vectors. SVM aims to maximize this margin for better classification performance.</a:t>
            </a:r>
            <a:endParaRPr sz="15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32385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unito"/>
              <a:buChar char="●"/>
            </a:pPr>
            <a:r>
              <a:rPr lang="en" sz="1500" b="1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Kernel</a:t>
            </a:r>
            <a:r>
              <a:rPr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A function that maps data to a higher-dimensional space enabling SVM to handle non-linearly separable data.</a:t>
            </a:r>
            <a:endParaRPr sz="15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32385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unito"/>
              <a:buChar char="●"/>
            </a:pPr>
            <a:r>
              <a:rPr lang="en" sz="1500" b="1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5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A regularization term balancing margin maximization and misclassification penalties. A higher C value forces stricter penalty for misclassifications.</a:t>
            </a:r>
            <a:endParaRPr sz="15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714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Times New Roman"/>
                <a:ea typeface="Times New Roman"/>
                <a:cs typeface="Times New Roman"/>
                <a:sym typeface="Times New Roman"/>
              </a:rPr>
              <a:t>Key Concepts of Support Vector Machine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713" y="1362575"/>
            <a:ext cx="6588574" cy="364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SVM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1 : Import the Required Library </a:t>
            </a:r>
            <a:endParaRPr sz="1800" b="0" i="0" u="none" strike="noStrike" cap="non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From sklearn.svm import SVC</a:t>
            </a:r>
            <a:endParaRPr sz="1500" b="1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	2: Load the Dataset (csv file)</a:t>
            </a:r>
            <a:endParaRPr sz="1800" b="0" i="0" u="none" strike="noStrike" cap="non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3: Data Cleaning &amp; EDA (if required)</a:t>
            </a:r>
            <a:endParaRPr sz="1800" b="0" i="0" u="none" strike="noStrike" cap="non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4: Feature Selection single x and y variable (for simple linear Regression) </a:t>
            </a:r>
            <a:endParaRPr sz="1800" b="0" i="0" u="none" strike="noStrike" cap="non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multiple features selection x and single y variable(for multilinear Regression)</a:t>
            </a:r>
            <a:endParaRPr sz="1800" b="0" i="0" u="none" strike="noStrike" cap="non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5: Model Selection (Data Split on train and test data)</a:t>
            </a:r>
            <a:endParaRPr sz="1800" b="0" i="0" u="none" strike="noStrike" cap="non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x_train,x_test,y_train,y_test = </a:t>
            </a:r>
            <a:r>
              <a:rPr lang="en" sz="1800" b="1" i="0" u="none" strike="noStrike" cap="non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train_test_split(x,y,test_size=0.2,random_state = 10)</a:t>
            </a:r>
            <a:endParaRPr sz="1800" b="1" i="0" u="none" strike="noStrike" cap="non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Implementing SVM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311725" y="1514325"/>
            <a:ext cx="8304300" cy="3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6 : Train the </a:t>
            </a:r>
            <a:r>
              <a:rPr lang="en" sz="1800" b="1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SVM </a:t>
            </a:r>
            <a:r>
              <a:rPr lang="en" sz="1800" b="1" i="0" u="none" strike="noStrike" cap="non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Model </a:t>
            </a:r>
            <a:endParaRPr sz="1800" b="1" i="0" u="none" strike="noStrike" cap="non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clf</a:t>
            </a:r>
            <a:r>
              <a:rPr lang="en" sz="1800" i="0" u="none" strike="noStrike" cap="non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SVC</a:t>
            </a:r>
            <a:r>
              <a:rPr lang="en" sz="1800" i="0" u="none" strike="noStrike" cap="non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(kernal=</a:t>
            </a:r>
            <a:r>
              <a:rPr lang="en" sz="1800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’rbf’,</a:t>
            </a:r>
            <a:r>
              <a:rPr lang="en" sz="2100">
                <a:solidFill>
                  <a:srgbClr val="242424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C=1</a:t>
            </a:r>
            <a:r>
              <a:rPr lang="en" sz="1800" i="0" u="none" strike="noStrike" cap="none">
                <a:solidFill>
                  <a:srgbClr val="0A0A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 i="0" u="none" strike="noStrike" cap="non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clf</a:t>
            </a:r>
            <a:r>
              <a:rPr lang="e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.fit(x_train,y_train)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Step 7: Make Prediction</a:t>
            </a:r>
            <a:endParaRPr sz="1800" b="1" i="0" u="none" strike="noStrike" cap="non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900" b="0" i="0" u="none" strike="noStrike" cap="non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y_pred = </a:t>
            </a:r>
            <a:r>
              <a:rPr lang="en" sz="1800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clf</a:t>
            </a:r>
            <a:r>
              <a:rPr lang="en" sz="1900" b="0" i="0" u="none" strike="noStrike" cap="none">
                <a:solidFill>
                  <a:srgbClr val="0A0A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.predict(x_test)</a:t>
            </a:r>
            <a:endParaRPr sz="1900" b="0" i="0" u="none" strike="noStrike" cap="none">
              <a:solidFill>
                <a:srgbClr val="0A0A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A0A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Microsoft Office PowerPoint</Application>
  <PresentationFormat>On-screen Show (16:9)</PresentationFormat>
  <Paragraphs>26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Merriweather</vt:lpstr>
      <vt:lpstr>Arial</vt:lpstr>
      <vt:lpstr>Times New Roman</vt:lpstr>
      <vt:lpstr>Nunito</vt:lpstr>
      <vt:lpstr>Roboto</vt:lpstr>
      <vt:lpstr>Paradigm</vt:lpstr>
      <vt:lpstr>What is Support Vector Machine ?</vt:lpstr>
      <vt:lpstr>Key Concepts of Support Vector Machine</vt:lpstr>
      <vt:lpstr>Key Concepts of Support Vector Machine</vt:lpstr>
      <vt:lpstr>Implementing SVM</vt:lpstr>
      <vt:lpstr>Implementing SVM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Support Vector Machine ?</dc:title>
  <cp:lastModifiedBy>Mehul Kodia</cp:lastModifiedBy>
  <cp:revision>1</cp:revision>
  <dcterms:modified xsi:type="dcterms:W3CDTF">2026-04-27T15:35:31Z</dcterms:modified>
</cp:coreProperties>
</file>